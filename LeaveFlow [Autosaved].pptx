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7" r:id="rId19"/>
    <p:sldId id="278" r:id="rId20"/>
    <p:sldId id="279" r:id="rId21"/>
    <p:sldId id="280" r:id="rId22"/>
    <p:sldId id="28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2" autoAdjust="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66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60194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66534"/>
                </a:solidFill>
                <a:latin typeface="Arial"/>
              </a:defRPr>
            </a:pPr>
            <a:r>
              <a:rPr dirty="0"/>
              <a:t>LEAVEFLOW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1E293B"/>
                </a:solidFill>
                <a:latin typeface="Arial"/>
              </a:defRPr>
            </a:pPr>
            <a:r>
              <a:rPr dirty="0"/>
              <a:t>Employee Leave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03320"/>
            <a:ext cx="10058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8679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Project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251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t>Leave application • approval • balances • holidays • calendar • email notifications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846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Manual leave handling can make requests, approvals, balances and history difficult to track in one place.</a:t>
            </a:r>
            <a:br>
              <a:rPr sz="1600" dirty="0"/>
            </a:br>
            <a:br>
              <a:rPr sz="1600" dirty="0"/>
            </a:br>
            <a:r>
              <a:rPr sz="1600" dirty="0" err="1"/>
              <a:t>LeaveFlow</a:t>
            </a:r>
            <a:r>
              <a:rPr sz="1600" dirty="0"/>
              <a:t> centralizes these activities in a role-based web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39112"/>
            <a:ext cx="4846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• Employees can apply and track leave</a:t>
            </a:r>
            <a:br>
              <a:rPr sz="1600" dirty="0"/>
            </a:br>
            <a:r>
              <a:rPr sz="1600" dirty="0"/>
              <a:t>• Managers can approve or reject requests</a:t>
            </a:r>
            <a:br>
              <a:rPr sz="1600" dirty="0"/>
            </a:br>
            <a:r>
              <a:rPr sz="1600" dirty="0"/>
              <a:t>• Admins can manage employees, balances and holidays</a:t>
            </a:r>
            <a:br>
              <a:rPr sz="1600" dirty="0"/>
            </a:br>
            <a:r>
              <a:rPr sz="1600" dirty="0"/>
              <a:t>• Leave history and calendar are available</a:t>
            </a:r>
            <a:br>
              <a:rPr sz="1600" dirty="0"/>
            </a:br>
            <a:r>
              <a:rPr sz="1600" dirty="0"/>
              <a:t>• Email notifications connect important 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User Roles &amp;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Employee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30175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Register / login</a:t>
            </a:r>
            <a:br>
              <a:rPr sz="1600" dirty="0"/>
            </a:br>
            <a:r>
              <a:rPr sz="1600" dirty="0"/>
              <a:t>Apply for leave</a:t>
            </a:r>
            <a:br>
              <a:rPr sz="1600" dirty="0"/>
            </a:br>
            <a:r>
              <a:rPr sz="1600" dirty="0"/>
              <a:t>View history</a:t>
            </a:r>
            <a:br>
              <a:rPr sz="1600" dirty="0"/>
            </a:br>
            <a:r>
              <a:rPr sz="1600" dirty="0"/>
              <a:t>View balances</a:t>
            </a:r>
            <a:br>
              <a:rPr sz="1600" dirty="0"/>
            </a:br>
            <a:r>
              <a:rPr sz="1600" dirty="0"/>
              <a:t>View calendar</a:t>
            </a:r>
            <a:br>
              <a:rPr sz="1600" dirty="0"/>
            </a:br>
            <a:r>
              <a:rPr sz="1600" dirty="0"/>
              <a:t>Cancel pending leave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39112"/>
            <a:ext cx="3017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Login</a:t>
            </a:r>
            <a:br>
              <a:rPr sz="1600" dirty="0"/>
            </a:br>
            <a:r>
              <a:rPr sz="1600" dirty="0"/>
              <a:t>View pending requests</a:t>
            </a:r>
            <a:br>
              <a:rPr sz="1600" dirty="0"/>
            </a:br>
            <a:r>
              <a:rPr sz="1600" dirty="0"/>
              <a:t>Approve / reject leave</a:t>
            </a:r>
            <a:br>
              <a:rPr sz="1600" dirty="0"/>
            </a:br>
            <a:r>
              <a:rPr sz="1600" dirty="0"/>
              <a:t>Review requests</a:t>
            </a:r>
            <a:br>
              <a:rPr sz="1600" dirty="0"/>
            </a:br>
            <a:r>
              <a:rPr sz="1600" dirty="0"/>
              <a:t>Email employee after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41732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39112"/>
            <a:ext cx="3017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Manage employees/managers</a:t>
            </a:r>
            <a:br>
              <a:rPr sz="1600" dirty="0"/>
            </a:br>
            <a:r>
              <a:rPr sz="1600" dirty="0"/>
              <a:t>View employee details</a:t>
            </a:r>
            <a:br>
              <a:rPr sz="1600" dirty="0"/>
            </a:br>
            <a:r>
              <a:rPr sz="1600" dirty="0"/>
              <a:t>Manage leave balances</a:t>
            </a:r>
            <a:br>
              <a:rPr sz="1600" dirty="0"/>
            </a:br>
            <a:r>
              <a:rPr sz="1600" dirty="0"/>
              <a:t>Add/delete holidays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75240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rPr dirty="0"/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7335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2011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HTML5</a:t>
            </a:r>
            <a:br>
              <a:rPr sz="1600" dirty="0"/>
            </a:br>
            <a:r>
              <a:rPr sz="1600" dirty="0"/>
              <a:t>CSS3</a:t>
            </a:r>
            <a:br>
              <a:rPr sz="1600" dirty="0"/>
            </a:br>
            <a:r>
              <a:rPr sz="1600" dirty="0"/>
              <a:t>JavaScript</a:t>
            </a:r>
            <a:br>
              <a:rPr sz="1600" dirty="0"/>
            </a:br>
            <a:r>
              <a:rPr sz="1600" dirty="0"/>
              <a:t>Role-based pages</a:t>
            </a:r>
            <a:br>
              <a:rPr sz="1600" dirty="0"/>
            </a:br>
            <a:r>
              <a:rPr sz="1600" dirty="0"/>
              <a:t>Fetch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67335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30552"/>
            <a:ext cx="2011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Python</a:t>
            </a:r>
            <a:br>
              <a:rPr sz="1600" dirty="0"/>
            </a:br>
            <a:r>
              <a:rPr sz="1600" dirty="0" err="1"/>
              <a:t>FastAPI</a:t>
            </a:r>
            <a:br>
              <a:rPr sz="1600" dirty="0"/>
            </a:br>
            <a:r>
              <a:rPr sz="1600" dirty="0"/>
              <a:t>REST APIs</a:t>
            </a:r>
            <a:br>
              <a:rPr sz="1600" dirty="0"/>
            </a:br>
            <a:r>
              <a:rPr sz="1600" dirty="0"/>
              <a:t>JWT</a:t>
            </a:r>
            <a:br>
              <a:rPr sz="1600" dirty="0"/>
            </a:br>
            <a:r>
              <a:rPr sz="1600" dirty="0"/>
              <a:t>Business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30552"/>
            <a:ext cx="20116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PostgreSQL</a:t>
            </a:r>
            <a:br>
              <a:rPr sz="1600" dirty="0"/>
            </a:br>
            <a:r>
              <a:rPr sz="1600" dirty="0" err="1"/>
              <a:t>SQLAlchemy</a:t>
            </a:r>
            <a:br>
              <a:rPr sz="1600" dirty="0"/>
            </a:br>
            <a:r>
              <a:rPr sz="1600" dirty="0"/>
              <a:t>Users</a:t>
            </a:r>
            <a:br>
              <a:rPr sz="1600" dirty="0"/>
            </a:br>
            <a:r>
              <a:rPr sz="1600" dirty="0"/>
              <a:t>Leaves</a:t>
            </a:r>
            <a:br>
              <a:rPr sz="1600" dirty="0"/>
            </a:br>
            <a:r>
              <a:rPr sz="1600" dirty="0"/>
              <a:t>Balances</a:t>
            </a:r>
            <a:br>
              <a:rPr sz="1600" dirty="0"/>
            </a:br>
            <a:r>
              <a:rPr sz="1600" dirty="0"/>
              <a:t>Holidays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08760"/>
            <a:ext cx="2468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67335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30552"/>
            <a:ext cx="20116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SMTP email</a:t>
            </a:r>
            <a:br>
              <a:rPr sz="1600" dirty="0"/>
            </a:br>
            <a:r>
              <a:rPr sz="1600" dirty="0"/>
              <a:t>Password hashing</a:t>
            </a:r>
            <a:br>
              <a:rPr sz="1600" dirty="0"/>
            </a:br>
            <a:r>
              <a:rPr sz="1600" dirty="0"/>
              <a:t>Calendar</a:t>
            </a:r>
            <a:br>
              <a:rPr sz="1600" dirty="0"/>
            </a:br>
            <a:r>
              <a:rPr sz="1600" dirty="0"/>
              <a:t>Authorization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HTML5 • CSS3 • JavaScript</a:t>
            </a:r>
            <a:br>
              <a:rPr sz="1600" dirty="0"/>
            </a:br>
            <a:endParaRPr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93392"/>
            <a:ext cx="3017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Python</a:t>
            </a:r>
            <a:br>
              <a:rPr sz="1600" dirty="0"/>
            </a:br>
            <a:r>
              <a:rPr sz="1600" dirty="0" err="1"/>
              <a:t>FastAPI</a:t>
            </a:r>
            <a:br>
              <a:rPr sz="1600" dirty="0"/>
            </a:br>
            <a:r>
              <a:rPr sz="1600" dirty="0"/>
              <a:t>REST APIs</a:t>
            </a:r>
            <a:br>
              <a:rPr sz="1600" dirty="0"/>
            </a:b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93392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PostgreSQL</a:t>
            </a:r>
            <a:br>
              <a:rPr sz="1600" dirty="0"/>
            </a:br>
            <a:r>
              <a:rPr sz="1600" dirty="0" err="1"/>
              <a:t>SQLAlchemy</a:t>
            </a:r>
            <a:r>
              <a:rPr sz="1600" dirty="0"/>
              <a:t> 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8221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79392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JWT authentication</a:t>
            </a:r>
            <a:br>
              <a:rPr sz="1600" dirty="0"/>
            </a:br>
            <a:r>
              <a:rPr sz="1600" dirty="0" err="1"/>
              <a:t>Passlib</a:t>
            </a:r>
            <a:r>
              <a:rPr sz="1600" dirty="0"/>
              <a:t> / </a:t>
            </a:r>
            <a:r>
              <a:rPr sz="1600" dirty="0" err="1"/>
              <a:t>bcrypt</a:t>
            </a:r>
            <a:br>
              <a:rPr sz="1600" dirty="0"/>
            </a:br>
            <a:r>
              <a:rPr sz="1600" dirty="0"/>
              <a:t>Role-based authorization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8221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79392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SMTP</a:t>
            </a:r>
            <a:br>
              <a:rPr sz="1600" dirty="0"/>
            </a:br>
            <a:r>
              <a:rPr sz="1600" dirty="0"/>
              <a:t>Email notifications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38221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Project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279392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Leaflet/calendar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6977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rPr dirty="0"/>
              <a:t>Main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819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39112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Employee logs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5819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39112"/>
            <a:ext cx="2057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Applies for leave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819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39112"/>
            <a:ext cx="205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Backend validates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15819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039112"/>
            <a:ext cx="205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Request saved as Pending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8328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05072"/>
            <a:ext cx="205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Manager receives 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38328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STEP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005072"/>
            <a:ext cx="205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Manager approves / rejects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38328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STEP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05072"/>
            <a:ext cx="205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Employee receives email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38328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64040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STEP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005072"/>
            <a:ext cx="205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Status / balance is reflected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Employee Leave Application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45262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822710"/>
            <a:ext cx="10378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2E8F0"/>
                </a:solidFill>
                <a:latin typeface="Arial"/>
              </a:defRPr>
            </a:pPr>
            <a:r>
              <a:rPr sz="1600" dirty="0">
                <a:solidFill>
                  <a:sysClr val="windowText" lastClr="000000"/>
                </a:solidFill>
              </a:rPr>
              <a:t>POST /leave/</a:t>
            </a:r>
            <a:br>
              <a:rPr sz="1600" dirty="0">
                <a:solidFill>
                  <a:sysClr val="windowText" lastClr="000000"/>
                </a:solidFill>
              </a:rPr>
            </a:b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1. JWT identifies the employee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2. Validate start and end dates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3. Calculate number of days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4. Check overlapping pending/approved requests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5. Check current-year leave balance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6. Create </a:t>
            </a:r>
            <a:r>
              <a:rPr sz="1600" dirty="0" err="1">
                <a:solidFill>
                  <a:sysClr val="windowText" lastClr="000000"/>
                </a:solidFill>
              </a:rPr>
              <a:t>LeaveRequest</a:t>
            </a:r>
            <a:r>
              <a:rPr sz="1600" dirty="0">
                <a:solidFill>
                  <a:sysClr val="windowText" lastClr="000000"/>
                </a:solidFill>
              </a:rPr>
              <a:t> with status = "pending"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7. Commit request to PostgreSQL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8. Find active manager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9. Send manager notification through SMTP</a:t>
            </a:r>
            <a:br>
              <a:rPr sz="1600" dirty="0">
                <a:solidFill>
                  <a:sysClr val="windowText" lastClr="000000"/>
                </a:solidFill>
              </a:rPr>
            </a:br>
            <a:r>
              <a:rPr sz="1600" dirty="0">
                <a:solidFill>
                  <a:sysClr val="windowText" lastClr="000000"/>
                </a:solidFill>
              </a:rPr>
              <a:t>10. Return created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rPr dirty="0"/>
              <a:t>Code Highlight — </a:t>
            </a:r>
            <a:r>
              <a:rPr lang="en-IN" dirty="0"/>
              <a:t>Employee</a:t>
            </a:r>
            <a:r>
              <a:rPr dirty="0"/>
              <a:t> Notification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DBBA7D-F27E-EA6E-16B9-9022F7FD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185" y="994608"/>
            <a:ext cx="5725324" cy="53442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560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2103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id</a:t>
            </a:r>
            <a:br>
              <a:rPr sz="1600" dirty="0"/>
            </a:br>
            <a:r>
              <a:rPr sz="1600" dirty="0"/>
              <a:t>name</a:t>
            </a:r>
            <a:br>
              <a:rPr sz="1600" dirty="0"/>
            </a:br>
            <a:r>
              <a:rPr sz="1600" dirty="0"/>
              <a:t>email</a:t>
            </a:r>
            <a:br>
              <a:rPr sz="1600" dirty="0"/>
            </a:br>
            <a:r>
              <a:rPr sz="1600" dirty="0"/>
              <a:t>password</a:t>
            </a:r>
            <a:br>
              <a:rPr sz="1600" dirty="0"/>
            </a:br>
            <a:r>
              <a:rPr sz="1600" dirty="0"/>
              <a:t>role</a:t>
            </a:r>
            <a:br>
              <a:rPr sz="1600" dirty="0"/>
            </a:br>
            <a:r>
              <a:rPr sz="1600" dirty="0" err="1"/>
              <a:t>is_active</a:t>
            </a:r>
            <a:br>
              <a:rPr sz="1600" dirty="0"/>
            </a:br>
            <a:r>
              <a:rPr sz="1600" dirty="0" err="1"/>
              <a:t>created_at</a:t>
            </a:r>
            <a:endParaRPr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3337560" y="1417320"/>
            <a:ext cx="2560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Leave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39112"/>
            <a:ext cx="21031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id</a:t>
            </a:r>
            <a:br>
              <a:rPr sz="1600" dirty="0"/>
            </a:br>
            <a:r>
              <a:rPr sz="1600" dirty="0" err="1"/>
              <a:t>user_id</a:t>
            </a:r>
            <a:r>
              <a:rPr sz="1600" dirty="0"/>
              <a:t> (FK)</a:t>
            </a:r>
            <a:br>
              <a:rPr sz="1600" dirty="0"/>
            </a:br>
            <a:r>
              <a:rPr sz="1600" dirty="0" err="1"/>
              <a:t>leave_type</a:t>
            </a:r>
            <a:br>
              <a:rPr sz="1600" dirty="0"/>
            </a:br>
            <a:r>
              <a:rPr sz="1600" dirty="0" err="1"/>
              <a:t>start_date</a:t>
            </a:r>
            <a:br>
              <a:rPr sz="1600" dirty="0"/>
            </a:br>
            <a:r>
              <a:rPr sz="1600" dirty="0" err="1"/>
              <a:t>end_date</a:t>
            </a:r>
            <a:br>
              <a:rPr sz="1600" dirty="0"/>
            </a:br>
            <a:r>
              <a:rPr sz="1600" dirty="0"/>
              <a:t>days</a:t>
            </a:r>
            <a:br>
              <a:rPr sz="1600" dirty="0"/>
            </a:br>
            <a:r>
              <a:rPr sz="1600" dirty="0"/>
              <a:t>reason</a:t>
            </a:r>
            <a:br>
              <a:rPr sz="1600" dirty="0"/>
            </a:br>
            <a:r>
              <a:rPr sz="1600" dirty="0"/>
              <a:t>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2560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Leave Balances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39112"/>
            <a:ext cx="2103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id</a:t>
            </a:r>
            <a:br>
              <a:rPr sz="1600" dirty="0"/>
            </a:br>
            <a:r>
              <a:rPr sz="1600" dirty="0" err="1"/>
              <a:t>user_id</a:t>
            </a:r>
            <a:r>
              <a:rPr sz="1600" dirty="0"/>
              <a:t> (FK)</a:t>
            </a:r>
            <a:br>
              <a:rPr sz="1600" dirty="0"/>
            </a:br>
            <a:r>
              <a:rPr sz="1600" dirty="0" err="1"/>
              <a:t>leave_type</a:t>
            </a:r>
            <a:br>
              <a:rPr sz="1600" dirty="0"/>
            </a:br>
            <a:r>
              <a:rPr sz="1600" dirty="0" err="1"/>
              <a:t>total_days</a:t>
            </a:r>
            <a:br>
              <a:rPr sz="1600" dirty="0"/>
            </a:br>
            <a:r>
              <a:rPr sz="1600" dirty="0" err="1"/>
              <a:t>used_days</a:t>
            </a:r>
            <a:br>
              <a:rPr sz="1600" dirty="0"/>
            </a:br>
            <a:r>
              <a:rPr sz="1600" dirty="0" err="1"/>
              <a:t>remaining_days</a:t>
            </a:r>
            <a:br>
              <a:rPr sz="1600" dirty="0"/>
            </a:br>
            <a:r>
              <a:rPr sz="1600" dirty="0"/>
              <a:t>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17320"/>
            <a:ext cx="2560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581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Holidays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39112"/>
            <a:ext cx="21031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id</a:t>
            </a:r>
            <a:br>
              <a:rPr sz="1600" dirty="0"/>
            </a:br>
            <a:r>
              <a:rPr sz="1600" dirty="0"/>
              <a:t>name</a:t>
            </a:r>
            <a:br>
              <a:rPr sz="1600" dirty="0"/>
            </a:br>
            <a:r>
              <a:rPr sz="1600" dirty="0"/>
              <a:t>date</a:t>
            </a:r>
            <a:br>
              <a:rPr sz="1600" dirty="0"/>
            </a:br>
            <a:r>
              <a:rPr sz="1600" dirty="0" err="1"/>
              <a:t>created_at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Authentication &amp;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2926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Password is hashed using </a:t>
            </a:r>
            <a:r>
              <a:rPr sz="1600" dirty="0" err="1"/>
              <a:t>bcrypt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/>
              <a:t>The plain password is not stored in the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5819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039112"/>
            <a:ext cx="2926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Credentials are verified.</a:t>
            </a:r>
            <a:br>
              <a:rPr sz="1600" dirty="0"/>
            </a:br>
            <a:br>
              <a:rPr sz="1600" dirty="0"/>
            </a:br>
            <a:r>
              <a:rPr sz="1600" dirty="0"/>
              <a:t>A JWT access token is generated and returned to the frontend.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3832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5819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Protected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39112"/>
            <a:ext cx="2926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Frontend sends:</a:t>
            </a:r>
            <a:br>
              <a:rPr sz="1600" dirty="0"/>
            </a:br>
            <a:r>
              <a:rPr sz="1600" dirty="0"/>
              <a:t>Authorization: Bearer &lt;token&gt;</a:t>
            </a:r>
            <a:br>
              <a:rPr sz="1600" dirty="0"/>
            </a:br>
            <a:br>
              <a:rPr sz="1600" dirty="0"/>
            </a:br>
            <a:r>
              <a:rPr sz="1600" dirty="0" err="1"/>
              <a:t>FastAPI</a:t>
            </a:r>
            <a:r>
              <a:rPr sz="1600" dirty="0"/>
              <a:t> validates the token and identifies the current user.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rPr dirty="0"/>
              <a:t>Email Notification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3215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1.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6551"/>
            <a:ext cx="2834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Employee applies leave</a:t>
            </a:r>
            <a:br>
              <a:rPr sz="1600" dirty="0"/>
            </a:br>
            <a:br>
              <a:rPr sz="1600" dirty="0"/>
            </a:br>
            <a:r>
              <a:rPr sz="1600" dirty="0"/>
              <a:t>Manager approves or rejects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0580" y="182937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2.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527" y="2685538"/>
            <a:ext cx="2834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 err="1"/>
              <a:t>FastAPI</a:t>
            </a:r>
            <a:r>
              <a:rPr sz="1600" dirty="0"/>
              <a:t> calls </a:t>
            </a:r>
            <a:r>
              <a:rPr sz="1600" dirty="0" err="1"/>
              <a:t>send_email</a:t>
            </a:r>
            <a:r>
              <a:rPr sz="1600" dirty="0"/>
              <a:t>()</a:t>
            </a:r>
            <a:br>
              <a:rPr sz="1600" dirty="0"/>
            </a:br>
            <a:br>
              <a:rPr sz="1600" dirty="0"/>
            </a:br>
            <a:r>
              <a:rPr sz="1600" dirty="0"/>
              <a:t>Subject and body are created from leave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82937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rPr dirty="0"/>
              <a:t>3. Recipient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684395"/>
            <a:ext cx="28346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New request → Manager</a:t>
            </a:r>
            <a:br>
              <a:rPr sz="1600" dirty="0"/>
            </a:br>
            <a:r>
              <a:rPr sz="1600" dirty="0"/>
              <a:t>Approval/rejection → Employee</a:t>
            </a:r>
            <a:br>
              <a:rPr sz="1600" dirty="0"/>
            </a:br>
            <a:br>
              <a:rPr sz="1600" dirty="0"/>
            </a:br>
            <a:r>
              <a:rPr sz="1600" dirty="0"/>
              <a:t>SMTP delivers the message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Employee management — view employees and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Employee details — leave overview, history and balances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609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Leave balance management — view and update 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82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Holiday management — add and delete company holidays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044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Role-based access protects administrative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Calendar &amp; Holiday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Employee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47548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Displays the employee's pending and approved leave dates.</a:t>
            </a:r>
            <a:br>
              <a:rPr sz="1600" dirty="0"/>
            </a:br>
            <a:br>
              <a:rPr sz="1600" dirty="0"/>
            </a:br>
            <a:r>
              <a:rPr sz="1600" dirty="0"/>
              <a:t>Leave data is fetched from the </a:t>
            </a:r>
            <a:r>
              <a:rPr sz="1600" dirty="0" err="1"/>
              <a:t>FastAPI</a:t>
            </a:r>
            <a:r>
              <a:rPr sz="1600" dirty="0"/>
              <a:t> calendar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81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Arial"/>
              </a:defRPr>
            </a:pPr>
            <a:r>
              <a:t>Holiday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39112"/>
            <a:ext cx="47548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rial"/>
              </a:defRPr>
            </a:pPr>
            <a:r>
              <a:rPr sz="1600" dirty="0"/>
              <a:t>Company holidays are stored in PostgreSQL and exposed through a holiday API.</a:t>
            </a:r>
            <a:br>
              <a:rPr sz="1600" dirty="0"/>
            </a:br>
            <a:br>
              <a:rPr sz="1600" dirty="0"/>
            </a:br>
            <a:r>
              <a:rPr sz="1600" dirty="0"/>
              <a:t>The frontend can display holidays alongside leave 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Backend Code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110313-189D-7AAE-D6FC-B8C0B5CD4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169" y="527459"/>
            <a:ext cx="5081794" cy="58030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Frontend Code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E4CF16-7864-1750-6473-208853AB7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588" y="412755"/>
            <a:ext cx="4077862" cy="62349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Application Screenshots &amp; Output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9746F32-AB47-D791-8008-85AB625BB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40" y="886968"/>
            <a:ext cx="11758613" cy="55293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84524B-7C88-1238-5DC1-2FC8AED03066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B63C1-5D1B-606F-7F29-50B9E0047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37" y="761628"/>
            <a:ext cx="4658375" cy="5334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D077E0-2CA9-8D27-854F-981A1422D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490" y="542506"/>
            <a:ext cx="4467849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2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B1F995-32BF-3C36-12C6-0584E3F107DA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6D437-A957-99FD-EAA1-B78C8EF76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7" y="724673"/>
            <a:ext cx="11905945" cy="5541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AEF082-31A4-132D-BCF5-E85A202D49D3}"/>
              </a:ext>
            </a:extLst>
          </p:cNvPr>
          <p:cNvSpPr txBox="1"/>
          <p:nvPr/>
        </p:nvSpPr>
        <p:spPr>
          <a:xfrm>
            <a:off x="143027" y="272534"/>
            <a:ext cx="471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Employee’s -Dashboard</a:t>
            </a:r>
          </a:p>
        </p:txBody>
      </p:sp>
    </p:spTree>
    <p:extLst>
      <p:ext uri="{BB962C8B-B14F-4D97-AF65-F5344CB8AC3E}">
        <p14:creationId xmlns:p14="http://schemas.microsoft.com/office/powerpoint/2010/main" val="1515034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4A7F4-FCFD-9BCA-88DF-696A70761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" y="614329"/>
            <a:ext cx="12034837" cy="56293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B31C13-DCF6-8A31-C70E-D6F4889D6104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43010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5B815C-3D77-E1F1-E79A-2D9EF1137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" y="765072"/>
            <a:ext cx="12034837" cy="56878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52B6BF-6EBE-AEE3-E969-3BC90210394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179B3-65CE-578D-D8C3-97A2E93C4992}"/>
              </a:ext>
            </a:extLst>
          </p:cNvPr>
          <p:cNvSpPr txBox="1"/>
          <p:nvPr/>
        </p:nvSpPr>
        <p:spPr>
          <a:xfrm>
            <a:off x="157162" y="271022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Manager’s Dashboard</a:t>
            </a:r>
          </a:p>
        </p:txBody>
      </p:sp>
    </p:spTree>
    <p:extLst>
      <p:ext uri="{BB962C8B-B14F-4D97-AF65-F5344CB8AC3E}">
        <p14:creationId xmlns:p14="http://schemas.microsoft.com/office/powerpoint/2010/main" val="2104054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FF6601-DEAD-F9EA-BA2A-7E6709A56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5" y="609181"/>
            <a:ext cx="11241069" cy="60111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311F4B-F85C-50C5-F520-62D42A3F3AF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EB99F-EBE9-5E4E-C202-8231595D7609}"/>
              </a:ext>
            </a:extLst>
          </p:cNvPr>
          <p:cNvSpPr txBox="1"/>
          <p:nvPr/>
        </p:nvSpPr>
        <p:spPr>
          <a:xfrm>
            <a:off x="475465" y="193076"/>
            <a:ext cx="460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Admin’s Update Employee’s Leave Page</a:t>
            </a:r>
          </a:p>
        </p:txBody>
      </p:sp>
    </p:spTree>
    <p:extLst>
      <p:ext uri="{BB962C8B-B14F-4D97-AF65-F5344CB8AC3E}">
        <p14:creationId xmlns:p14="http://schemas.microsoft.com/office/powerpoint/2010/main" val="3828946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91B366-EA0E-E17C-5625-A42842CB4040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BA130-C635-77C2-76BA-118704F15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" y="573194"/>
            <a:ext cx="12091987" cy="571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5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Output / Email Evidence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B34881-C3A5-22C5-2F96-F69D0CA0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6"/>
          <a:stretch>
            <a:fillRect/>
          </a:stretch>
        </p:blipFill>
        <p:spPr>
          <a:xfrm>
            <a:off x="6095999" y="1124713"/>
            <a:ext cx="5306569" cy="5166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654CF2-3F1B-F102-3F1F-702600C70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124713"/>
            <a:ext cx="4966295" cy="51661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Validation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rPr dirty="0"/>
              <a:t>• Login and role-based access are checked before protected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End date cannot be before start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609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Overlapping pending/approved leave requests are rejected.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82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Leave balance is checked before a request is created.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044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Only employees can apply for leave.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Email failures are caught so the leave operation can still complete.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6534"/>
                </a:solidFill>
                <a:latin typeface="Arial"/>
              </a:defRPr>
            </a:pPr>
            <a:r>
              <a:t>Additional Features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Admin employee management and individual employee leave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Admin leave balance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609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Holiday management and holiday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82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Employee leave 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044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JWT authentication and role-based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Password hashing with Passlib / bcrypt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SMTP email notifications for leave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98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t>• Leave cancellation for pending requests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71006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6534"/>
                </a:solidFill>
                <a:latin typeface="Arial"/>
              </a:defRPr>
            </a:pP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166126"/>
            <a:ext cx="10861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rPr lang="en-US" dirty="0"/>
              <a:t>Overall, the additional calendar, holiday and balance modules extend the basic leave management workflow into a more complete system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68680" y="269105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93B"/>
                </a:solidFill>
                <a:latin typeface="Arial"/>
              </a:defRPr>
            </a:pPr>
            <a:r>
              <a:rPr lang="en-US" dirty="0"/>
              <a:t>To conclude, </a:t>
            </a:r>
            <a:r>
              <a:rPr lang="en-US" dirty="0" err="1"/>
              <a:t>LeaveFlow</a:t>
            </a:r>
            <a:r>
              <a:rPr lang="en-US" dirty="0"/>
              <a:t> provides a complete digital workflow for employee leave management.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800600" y="4605581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803D"/>
                </a:solidFill>
                <a:latin typeface="Arial"/>
              </a:defRPr>
            </a:pPr>
            <a:r>
              <a:rPr dirty="0"/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91C1-BDEF-393D-462E-193D0C14608E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867</Words>
  <Application>Microsoft Office PowerPoint</Application>
  <PresentationFormat>Widescreen</PresentationFormat>
  <Paragraphs>119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Sheniya James</dc:creator>
  <cp:keywords/>
  <dc:description>generated using python-pptx</dc:description>
  <cp:lastModifiedBy>Sheniya J</cp:lastModifiedBy>
  <cp:revision>6</cp:revision>
  <dcterms:created xsi:type="dcterms:W3CDTF">2013-01-27T09:14:16Z</dcterms:created>
  <dcterms:modified xsi:type="dcterms:W3CDTF">2026-09-24T09:26:30Z</dcterms:modified>
  <cp:category/>
</cp:coreProperties>
</file>